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733"/>
          </a:solidFill>
        </p:spPr>
      </p:sp>
      <p:sp>
        <p:nvSpPr>
          <p:cNvPr id="3" name="Text 1"/>
          <p:cNvSpPr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8FA3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STRUCTURES &amp; ALGORITHMS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5156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altLang="en-US" sz="4000" dirty="0">
                <a:solidFill>
                  <a:schemeClr val="bg1"/>
                </a:solidFill>
              </a:rPr>
              <a:t>A Dictionary-Based Fuzzy Search and Spell Correction Engine for Smart Shopping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601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E7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Fuzzy Search System for Large, Multilingual Dictionaries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349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7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SUBMITTED BY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56692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Bhanu Jakka</a:t>
            </a:r>
            <a:r>
              <a:rPr lang="en-US" sz="1400" dirty="0">
                <a:solidFill>
                  <a:srgbClr val="9AA7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2520030006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Akshita Anand</a:t>
            </a:r>
            <a:r>
              <a:rPr lang="en-US" sz="1400" dirty="0">
                <a:solidFill>
                  <a:srgbClr val="9AA7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2520030043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40080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Harini P</a:t>
            </a:r>
            <a:r>
              <a:rPr lang="en-US" sz="1400" dirty="0">
                <a:solidFill>
                  <a:srgbClr val="9AA7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2520030177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Abstract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51560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0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Searching large, multilingual dictionaries becomes unreliable when users make spelling mistakes, since exact-match systems return no results for even minor errors. This problem is amplified in Indian-language scripts, where Unicode complexity increases the likelihood of input mistakes, creating a real barrier to fast and accurate information retrieval.
</a:t>
            </a:r>
            <a:endParaRPr lang="en-US" sz="160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60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project designs a Fuzzy Search System that retrieves relevant words despite misspelled queries. It measures how close a query is to each dictionary entry using an edit-distance based similarity score, ranks candidates accordingly, and returns the closest matches. The system is built to remain fast and accurate even as the dictionary size and language diversity grow.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681728"/>
            <a:ext cx="128016" cy="128016"/>
          </a:xfrm>
          <a:prstGeom prst="ellipse">
            <a:avLst/>
          </a:prstGeom>
          <a:solidFill>
            <a:srgbClr val="1E7F72"/>
          </a:solidFill>
        </p:spPr>
      </p:sp>
      <p:sp>
        <p:nvSpPr>
          <p:cNvPr id="5" name="Text 3"/>
          <p:cNvSpPr/>
          <p:nvPr/>
        </p:nvSpPr>
        <p:spPr>
          <a:xfrm>
            <a:off x="1143000" y="4544568"/>
            <a:ext cx="10149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Approach: </a:t>
            </a:r>
            <a:r>
              <a:rPr lang="en-US" sz="150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Fuzzy / approximate matching instead of rigid exact-match search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5248656"/>
            <a:ext cx="128016" cy="128016"/>
          </a:xfrm>
          <a:prstGeom prst="ellipse">
            <a:avLst/>
          </a:prstGeom>
          <a:solidFill>
            <a:srgbClr val="1E7F72"/>
          </a:solidFill>
        </p:spPr>
      </p:sp>
      <p:sp>
        <p:nvSpPr>
          <p:cNvPr id="7" name="Text 5"/>
          <p:cNvSpPr/>
          <p:nvPr/>
        </p:nvSpPr>
        <p:spPr>
          <a:xfrm>
            <a:off x="1143000" y="5111496"/>
            <a:ext cx="10149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Technique: </a:t>
            </a:r>
            <a:r>
              <a:rPr lang="en-US" sz="150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programming based edit-distance computation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815584"/>
            <a:ext cx="128016" cy="128016"/>
          </a:xfrm>
          <a:prstGeom prst="ellipse">
            <a:avLst/>
          </a:prstGeom>
          <a:solidFill>
            <a:srgbClr val="1E7F72"/>
          </a:solidFill>
        </p:spPr>
      </p:sp>
      <p:sp>
        <p:nvSpPr>
          <p:cNvPr id="9" name="Text 7"/>
          <p:cNvSpPr/>
          <p:nvPr/>
        </p:nvSpPr>
        <p:spPr>
          <a:xfrm>
            <a:off x="1143000" y="5678424"/>
            <a:ext cx="10149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Focus: </a:t>
            </a:r>
            <a:r>
              <a:rPr lang="en-US" sz="150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Unicode support and scalability across large, multilingual dictionaries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08760"/>
            <a:ext cx="10515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frequently mistype or misspell words when searching large dictionaries or multilingual corpora. Traditional exact-match search fails in these cases, and Unicode complexity in Indian-language scripts makes the problem worse — reducing retrieval accuracy and user satisfaction.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7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3438144"/>
            <a:ext cx="128016" cy="128016"/>
          </a:xfrm>
          <a:prstGeom prst="ellipse">
            <a:avLst/>
          </a:prstGeom>
          <a:solidFill>
            <a:srgbClr val="1E7F72"/>
          </a:solidFill>
        </p:spPr>
      </p:sp>
      <p:sp>
        <p:nvSpPr>
          <p:cNvPr id="6" name="Text 4"/>
          <p:cNvSpPr/>
          <p:nvPr/>
        </p:nvSpPr>
        <p:spPr>
          <a:xfrm>
            <a:off x="1143000" y="3310128"/>
            <a:ext cx="10149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search system that retrieves correct words even when the query is misspelled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096512"/>
            <a:ext cx="128016" cy="128016"/>
          </a:xfrm>
          <a:prstGeom prst="ellipse">
            <a:avLst/>
          </a:prstGeom>
          <a:solidFill>
            <a:srgbClr val="1E7F72"/>
          </a:solidFill>
        </p:spPr>
      </p:sp>
      <p:sp>
        <p:nvSpPr>
          <p:cNvPr id="8" name="Text 6"/>
          <p:cNvSpPr/>
          <p:nvPr/>
        </p:nvSpPr>
        <p:spPr>
          <a:xfrm>
            <a:off x="1143000" y="3968496"/>
            <a:ext cx="10149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Quantify how close a query is to a dictionary word using a similarity measure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754880"/>
            <a:ext cx="128016" cy="128016"/>
          </a:xfrm>
          <a:prstGeom prst="ellipse">
            <a:avLst/>
          </a:prstGeom>
          <a:solidFill>
            <a:srgbClr val="1E7F72"/>
          </a:solidFill>
        </p:spPr>
      </p:sp>
      <p:sp>
        <p:nvSpPr>
          <p:cNvPr id="10" name="Text 8"/>
          <p:cNvSpPr/>
          <p:nvPr/>
        </p:nvSpPr>
        <p:spPr>
          <a:xfrm>
            <a:off x="1143000" y="4626864"/>
            <a:ext cx="10149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Rank and return the most relevant suggestions to the user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5413248"/>
            <a:ext cx="128016" cy="128016"/>
          </a:xfrm>
          <a:prstGeom prst="ellipse">
            <a:avLst/>
          </a:prstGeom>
          <a:solidFill>
            <a:srgbClr val="1E7F72"/>
          </a:solidFill>
        </p:spPr>
      </p:sp>
      <p:sp>
        <p:nvSpPr>
          <p:cNvPr id="12" name="Text 10"/>
          <p:cNvSpPr/>
          <p:nvPr/>
        </p:nvSpPr>
        <p:spPr>
          <a:xfrm>
            <a:off x="1143000" y="5285232"/>
            <a:ext cx="10149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 efficiently across large, multilingual dictionaries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Proposed Functionalities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3429000" cy="2148840"/>
          </a:xfrm>
          <a:prstGeom prst="rect">
            <a:avLst/>
          </a:prstGeom>
          <a:solidFill>
            <a:srgbClr val="F4F5F6"/>
          </a:solidFill>
        </p:spPr>
      </p:sp>
      <p:sp>
        <p:nvSpPr>
          <p:cNvPr id="4" name="Text 2"/>
          <p:cNvSpPr/>
          <p:nvPr/>
        </p:nvSpPr>
        <p:spPr>
          <a:xfrm>
            <a:off x="1051560" y="1764792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7F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2286000"/>
            <a:ext cx="2971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Unicode-Aware Indexing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51560" y="2715768"/>
            <a:ext cx="2971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dictionary search engine that correctly handles multilingual and Indic-script text.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80560" y="1600200"/>
            <a:ext cx="3429000" cy="2148840"/>
          </a:xfrm>
          <a:prstGeom prst="rect">
            <a:avLst/>
          </a:prstGeom>
          <a:solidFill>
            <a:srgbClr val="F4F5F6"/>
          </a:solidFill>
        </p:spPr>
      </p:sp>
      <p:sp>
        <p:nvSpPr>
          <p:cNvPr id="8" name="Text 6"/>
          <p:cNvSpPr/>
          <p:nvPr/>
        </p:nvSpPr>
        <p:spPr>
          <a:xfrm>
            <a:off x="4709160" y="1764792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7F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09160" y="2286000"/>
            <a:ext cx="2971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Fuzzy Matching Engine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709160" y="2715768"/>
            <a:ext cx="2971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 maximum edit distance between query and dictionary entries to detect near matches.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1600200"/>
            <a:ext cx="3429000" cy="2148840"/>
          </a:xfrm>
          <a:prstGeom prst="rect">
            <a:avLst/>
          </a:prstGeom>
          <a:solidFill>
            <a:srgbClr val="F4F5F6"/>
          </a:solidFill>
        </p:spPr>
      </p:sp>
      <p:sp>
        <p:nvSpPr>
          <p:cNvPr id="12" name="Text 10"/>
          <p:cNvSpPr/>
          <p:nvPr/>
        </p:nvSpPr>
        <p:spPr>
          <a:xfrm>
            <a:off x="8366760" y="1764792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7F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366760" y="2286000"/>
            <a:ext cx="2971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Similarity-Based Ranking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66760" y="2715768"/>
            <a:ext cx="2971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 and order suggestions so the closest matches surface first.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3977640"/>
            <a:ext cx="3429000" cy="2148840"/>
          </a:xfrm>
          <a:prstGeom prst="rect">
            <a:avLst/>
          </a:prstGeom>
          <a:solidFill>
            <a:srgbClr val="F4F5F6"/>
          </a:solidFill>
        </p:spPr>
      </p:sp>
      <p:sp>
        <p:nvSpPr>
          <p:cNvPr id="16" name="Text 14"/>
          <p:cNvSpPr/>
          <p:nvPr/>
        </p:nvSpPr>
        <p:spPr>
          <a:xfrm>
            <a:off x="1051560" y="4142232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7F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4663440"/>
            <a:ext cx="2971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 Corpus Support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051560" y="5093208"/>
            <a:ext cx="2971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 sizeable, multilingual dictionaries without degrading response time.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80560" y="3977640"/>
            <a:ext cx="3429000" cy="2148840"/>
          </a:xfrm>
          <a:prstGeom prst="rect">
            <a:avLst/>
          </a:prstGeom>
          <a:solidFill>
            <a:srgbClr val="F4F5F6"/>
          </a:solidFill>
        </p:spPr>
      </p:sp>
      <p:sp>
        <p:nvSpPr>
          <p:cNvPr id="20" name="Text 18"/>
          <p:cNvSpPr/>
          <p:nvPr/>
        </p:nvSpPr>
        <p:spPr>
          <a:xfrm>
            <a:off x="4709160" y="4142232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7F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09160" y="4663440"/>
            <a:ext cx="2971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User-Friendly Suggestions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709160" y="5093208"/>
            <a:ext cx="2971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 clear, corrected alternatives for misspelled queries.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38160" y="3977640"/>
            <a:ext cx="3429000" cy="2148840"/>
          </a:xfrm>
          <a:prstGeom prst="rect">
            <a:avLst/>
          </a:prstGeom>
          <a:solidFill>
            <a:srgbClr val="F4F5F6"/>
          </a:solidFill>
        </p:spPr>
      </p:sp>
      <p:sp>
        <p:nvSpPr>
          <p:cNvPr id="24" name="Text 22"/>
          <p:cNvSpPr/>
          <p:nvPr/>
        </p:nvSpPr>
        <p:spPr>
          <a:xfrm>
            <a:off x="8366760" y="4142232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7F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366760" y="4663440"/>
            <a:ext cx="2971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Scalable Data Structures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366760" y="5093208"/>
            <a:ext cx="2971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optimized indexing structures to keep lookups efficient as data grows.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Tools and Technologies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1E7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PROGRAMMING LANGUAGE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297680" y="1691640"/>
            <a:ext cx="7040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221992"/>
            <a:ext cx="10515600" cy="0"/>
          </a:xfrm>
          <a:prstGeom prst="line">
            <a:avLst/>
          </a:prstGeom>
          <a:noFill/>
          <a:ln w="12700">
            <a:solidFill>
              <a:srgbClr val="DFE3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50592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1E7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TECHNIQUE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0" y="2450592"/>
            <a:ext cx="7040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Programming — sequence alignment / edit-distance computation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DFE3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209544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1E7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STRUCTURES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0" y="3209544"/>
            <a:ext cx="7040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Trie / HashMap for dictionary indexing, 2-D arrays for DP tables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3739896"/>
            <a:ext cx="10515600" cy="0"/>
          </a:xfrm>
          <a:prstGeom prst="line">
            <a:avLst/>
          </a:prstGeom>
          <a:noFill/>
          <a:ln w="12700">
            <a:solidFill>
              <a:srgbClr val="DFE3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968496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1E7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HANDLING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0" y="3968496"/>
            <a:ext cx="7040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Unicode &amp; String libraries for multilingual support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22960" y="4498848"/>
            <a:ext cx="10515600" cy="0"/>
          </a:xfrm>
          <a:prstGeom prst="line">
            <a:avLst/>
          </a:prstGeom>
          <a:noFill/>
          <a:ln w="12700">
            <a:solidFill>
              <a:srgbClr val="DFE3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727448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1E7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DEVELOPMENT ENVIRONMENT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0" y="4727448"/>
            <a:ext cx="7040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IntelliJ IDEA / Eclipse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22960" y="5257800"/>
            <a:ext cx="10515600" cy="0"/>
          </a:xfrm>
          <a:prstGeom prst="line">
            <a:avLst/>
          </a:prstGeom>
          <a:noFill/>
          <a:ln w="12700">
            <a:solidFill>
              <a:srgbClr val="DFE3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48640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1E7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0" y="5486400"/>
            <a:ext cx="7040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&amp; GitHub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22960" y="6016752"/>
            <a:ext cx="10515600" cy="0"/>
          </a:xfrm>
          <a:prstGeom prst="line">
            <a:avLst/>
          </a:prstGeom>
          <a:noFill/>
          <a:ln w="12700">
            <a:solidFill>
              <a:srgbClr val="DFE3E6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Expected Outcome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058400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D7DE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functional, Unicode-aware fuzzy search engine that accurately retrieves and ranks dictionary matches even when queries contain spelling errors — handling large, multilingual datasets while noticeably improving search accuracy and user experience over traditional exact-match systems.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4215384"/>
            <a:ext cx="128016" cy="128016"/>
          </a:xfrm>
          <a:prstGeom prst="ellipse">
            <a:avLst/>
          </a:prstGeom>
          <a:solidFill>
            <a:srgbClr val="1E7F72"/>
          </a:solidFill>
        </p:spPr>
      </p:sp>
      <p:sp>
        <p:nvSpPr>
          <p:cNvPr id="5" name="Text 3"/>
          <p:cNvSpPr/>
          <p:nvPr/>
        </p:nvSpPr>
        <p:spPr>
          <a:xfrm>
            <a:off x="1143000" y="4087368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Accurate correction of misspelled search queries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4718304"/>
            <a:ext cx="128016" cy="128016"/>
          </a:xfrm>
          <a:prstGeom prst="ellipse">
            <a:avLst/>
          </a:prstGeom>
          <a:solidFill>
            <a:srgbClr val="1E7F72"/>
          </a:solidFill>
        </p:spPr>
      </p:sp>
      <p:sp>
        <p:nvSpPr>
          <p:cNvPr id="7" name="Text 5"/>
          <p:cNvSpPr/>
          <p:nvPr/>
        </p:nvSpPr>
        <p:spPr>
          <a:xfrm>
            <a:off x="1143000" y="4590288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Ranked, relevant suggestions for every query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5221224"/>
            <a:ext cx="128016" cy="128016"/>
          </a:xfrm>
          <a:prstGeom prst="ellipse">
            <a:avLst/>
          </a:prstGeom>
          <a:solidFill>
            <a:srgbClr val="1E7F72"/>
          </a:solidFill>
        </p:spPr>
      </p:sp>
      <p:sp>
        <p:nvSpPr>
          <p:cNvPr id="9" name="Text 7"/>
          <p:cNvSpPr/>
          <p:nvPr/>
        </p:nvSpPr>
        <p:spPr>
          <a:xfrm>
            <a:off x="1143000" y="5093208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Reliable performance on large, multilingual datasets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733"/>
          </a:solidFill>
        </p:spPr>
      </p:sp>
      <p:sp>
        <p:nvSpPr>
          <p:cNvPr id="3" name="Text 1"/>
          <p:cNvSpPr/>
          <p:nvPr/>
        </p:nvSpPr>
        <p:spPr>
          <a:xfrm>
            <a:off x="0" y="2971800"/>
            <a:ext cx="12188952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Thank You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3215</Words>
  <Application>WPS Presentation</Application>
  <PresentationFormat>On-screen Show (16:9)</PresentationFormat>
  <Paragraphs>115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Calibri</vt:lpstr>
      <vt:lpstr>Calibri</vt:lpstr>
      <vt:lpstr>Georgia</vt:lpstr>
      <vt:lpstr>Georgia</vt:lpstr>
      <vt:lpstr>Georgia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WPS_1789000899</cp:lastModifiedBy>
  <cp:revision>3</cp:revision>
  <dcterms:created xsi:type="dcterms:W3CDTF">2026-08-20T00:30:00Z</dcterms:created>
  <dcterms:modified xsi:type="dcterms:W3CDTF">2026-09-15T14:58:23Z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38995263FE4D4CE5A41B264E0060999D_13</vt:lpwstr>
  </property>
  <property fmtid="{D5CDD505-2E9C-101B-9397-08002B2CF9AE}" pid="3" name="KSOProductBuildVer">
    <vt:lpwstr>1033-12.1.0.28485</vt:lpwstr>
  </property>
</Properties>
</file>